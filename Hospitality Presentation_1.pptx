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83" r:id="rId8"/>
    <p:sldId id="284" r:id="rId9"/>
    <p:sldId id="267" r:id="rId10"/>
    <p:sldId id="268" r:id="rId11"/>
    <p:sldId id="270" r:id="rId12"/>
    <p:sldId id="274" r:id="rId13"/>
    <p:sldId id="278" r:id="rId14"/>
    <p:sldId id="276" r:id="rId15"/>
    <p:sldId id="279" r:id="rId16"/>
    <p:sldId id="277" r:id="rId17"/>
    <p:sldId id="280" r:id="rId18"/>
    <p:sldId id="275" r:id="rId19"/>
    <p:sldId id="281" r:id="rId20"/>
    <p:sldId id="269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77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3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80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8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59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6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3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8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9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1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4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E77520D-ED26-4175-92CA-DF517D64EC0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F6D203E-7D37-4194-A935-6C04EDA65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5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umbrellas in a wooded area&#10;&#10;AI-generated content may be incorrect.">
            <a:extLst>
              <a:ext uri="{FF2B5EF4-FFF2-40B4-BE49-F238E27FC236}">
                <a16:creationId xmlns:a16="http://schemas.microsoft.com/office/drawing/2014/main" id="{282998FA-E1C6-C2F7-4779-04E00B67B5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7" b="77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45BFDC-6A69-B1ED-EA38-FB94212D96E0}"/>
              </a:ext>
            </a:extLst>
          </p:cNvPr>
          <p:cNvSpPr/>
          <p:nvPr/>
        </p:nvSpPr>
        <p:spPr>
          <a:xfrm>
            <a:off x="1415143" y="1805353"/>
            <a:ext cx="8218714" cy="16236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HOSPITALITY ANALYTICS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89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8EA6-EB47-F889-51B6-257D275C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10" y="288417"/>
            <a:ext cx="11932539" cy="702183"/>
          </a:xfr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INDEX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849A2D-CE7A-11D2-9649-FB87D578D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513" y="742862"/>
            <a:ext cx="11932539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 KPIs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Total Revenue, Total Booking, Utilized Capacity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Occupancy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Booking Status (Cancellation Rate, Checked Out, Cancel, No Show)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Weekday vs. Weekend Revenue and Bookings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Revenue by State &amp; Hotel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Class-Wise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Trend Analysis (Weekly Revenue, Bookings, and Occupancy)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Excel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Tableau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PowerBI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Faced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&amp; Strategic Recommendations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96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" y="288417"/>
            <a:ext cx="11980164" cy="838419"/>
          </a:xfr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783B25-2147-2789-31B4-7F673A703580}"/>
              </a:ext>
            </a:extLst>
          </p:cNvPr>
          <p:cNvSpPr txBox="1"/>
          <p:nvPr/>
        </p:nvSpPr>
        <p:spPr>
          <a:xfrm>
            <a:off x="166255" y="1422400"/>
            <a:ext cx="119019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evaluate property performance across key hospitality metrics to identify revenue opportunities and operational inefficiencies.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Scope: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Analysis of 134.59K historical bookings across multiple cities (Mumbai, Bangalore, Hyderabad, Delhi) and various hotel categories.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Focus Areas: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Revenue generation, capacity utilization, customer booking behaviors, and cancellation trends.</a:t>
            </a:r>
          </a:p>
        </p:txBody>
      </p:sp>
    </p:spTree>
    <p:extLst>
      <p:ext uri="{BB962C8B-B14F-4D97-AF65-F5344CB8AC3E}">
        <p14:creationId xmlns:p14="http://schemas.microsoft.com/office/powerpoint/2010/main" val="43700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" y="288417"/>
            <a:ext cx="11980164" cy="1188720"/>
          </a:xfr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Total Revenue &amp; Total Booking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BB8F46-A131-134D-FC7F-5F41099FD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" y="1619250"/>
            <a:ext cx="11980164" cy="4950333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Summary: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Total Revenue: ₹ 1,708,771,229 (~₹1.71 Billion) , Total Bookings: 134,590</a:t>
            </a:r>
          </a:p>
          <a:p>
            <a:pPr>
              <a:buClr>
                <a:schemeClr val="bg1"/>
              </a:buClr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Observations: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portfolio generated over ₹1.7 billion across approximately 134.5k bookings during the analyzed period.</a:t>
            </a:r>
          </a:p>
          <a:p>
            <a:pPr>
              <a:buClr>
                <a:schemeClr val="bg1"/>
              </a:buClr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is a strong baseline of demand and revenue generation. However, analyzing these top-line figures against capacity and cancellations will reveal the actual net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36005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" y="288417"/>
            <a:ext cx="11980164" cy="1188720"/>
          </a:xfr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Utilize Capacity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23EB32-3A5C-52E0-EC39-3AB8D4DD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" y="1657350"/>
            <a:ext cx="11980164" cy="5114925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Summary: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Total Capacity: 232,576 room nights.</a:t>
            </a:r>
          </a:p>
          <a:p>
            <a:pPr>
              <a:buClr>
                <a:schemeClr val="bg1"/>
              </a:buClr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Observations: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total available room nights across all properties stands at over 232,000, while total bookings are only 134,590.</a:t>
            </a:r>
          </a:p>
          <a:p>
            <a:pPr>
              <a:buClr>
                <a:schemeClr val="bg1"/>
              </a:buClr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is a gap of nearly 100,000 unbooked room nights. This massive unutilized capacity represents the biggest area of opportunity for revenue growth without needing physical expansion.</a:t>
            </a:r>
          </a:p>
        </p:txBody>
      </p:sp>
    </p:spTree>
    <p:extLst>
      <p:ext uri="{BB962C8B-B14F-4D97-AF65-F5344CB8AC3E}">
        <p14:creationId xmlns:p14="http://schemas.microsoft.com/office/powerpoint/2010/main" val="202728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267C-8446-1B6A-FB19-19BFB5188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Occupancy</a:t>
            </a:r>
            <a:endParaRPr lang="en-IN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03C6AB0-1A08-F591-A759-B3E102A66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1" y="964692"/>
            <a:ext cx="3707652" cy="47753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Overall Average Occupancy: 57.87%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properties are operating at little more than half their potential. Marketing and pricing strategies need an aggressive overhaul to push occupancy closer to the 70-75% industry standard.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D9089-80DB-3D93-1A12-F2F18CD0D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2" r="10178" b="3631"/>
          <a:stretch>
            <a:fillRect/>
          </a:stretch>
        </p:blipFill>
        <p:spPr>
          <a:xfrm>
            <a:off x="5049983" y="2475145"/>
            <a:ext cx="3054986" cy="3146337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44AFBF-D3BD-3668-0F95-0BF69517A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8" r="9130" b="3629"/>
          <a:stretch>
            <a:fillRect/>
          </a:stretch>
        </p:blipFill>
        <p:spPr>
          <a:xfrm>
            <a:off x="8265837" y="2475145"/>
            <a:ext cx="2966042" cy="3146337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88065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ABD5-26C5-C23D-ECAA-17C5873C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Checked Out, Cancel, No Show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206095-96D9-FDE4-91A6-643AC530E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386" y="2394857"/>
            <a:ext cx="3054623" cy="3506393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Total Bookings 134.59k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 25% cancellation rate impacting revenue predictability. 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Booking policies are either too lenient or customers are finding better last-minute alternatives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"No Shows" alone account for nearly 6,800 lost opportunities where rooms could not even be resold. 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Stricter deposit policies or overbooking algorithms are required to mitigate this loss.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ü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chemeClr val="bg1"/>
              </a:buCl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65E6A-4FC0-CC3C-C863-D7E4F22EA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73125" y="1739951"/>
            <a:ext cx="4950590" cy="383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6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1EC0-AB44-D898-A315-3752FFDA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/>
              <a:t>Weekday &amp; Weekend Revenue and Booking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570D58-4DCC-AD3E-1AF6-D94C4D6FA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92" y="2638044"/>
            <a:ext cx="3631692" cy="3101983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bg1"/>
              </a:buCl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Weekdays 62.6% 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Weekend 37.4% 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properties have a very strong corporate/business travel base, but are failing to attract weekend leisure travelers. 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Weekend-specific promotions are urgently needed to balance the revenue stream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0A123-5CC7-E6E7-15FD-BD8BD018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05" r="1917" b="2"/>
          <a:stretch>
            <a:fillRect/>
          </a:stretch>
        </p:blipFill>
        <p:spPr>
          <a:xfrm>
            <a:off x="6096000" y="2638044"/>
            <a:ext cx="5344886" cy="2996827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55457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600"/>
              <a:t>Revenue by State &amp; Hotel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23EB32-3A5C-52E0-EC39-3AB8D4DD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>
              <a:buClr>
                <a:schemeClr val="bg1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Mumbai is the undisputed cash cow. Delhi properties are underperforming relative to the rest of the portfolio and require a targeted market analysis to identify the root cause of the lag.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1D41F-EE3C-36FB-0FA4-2CA3CAFAD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366" y="2031881"/>
            <a:ext cx="6227064" cy="28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2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Class Wise Revenue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23EB32-3A5C-52E0-EC39-3AB8D4DD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Customers utilizing these properties show a strong preference (and willingness to pay) for upgraded experiences. </a:t>
            </a:r>
          </a:p>
          <a:p>
            <a:pPr>
              <a:buClr>
                <a:schemeClr val="bg1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Marketing should heavily feature premium amenities, as this is where the core revenue lies.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CCD3C-A864-AA69-D984-B57F43C70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810" y="1293275"/>
            <a:ext cx="5576175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61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006" y="956750"/>
            <a:ext cx="3066937" cy="1188720"/>
          </a:xfrm>
        </p:spPr>
        <p:txBody>
          <a:bodyPr>
            <a:normAutofit fontScale="90000"/>
          </a:bodyPr>
          <a:lstStyle/>
          <a:p>
            <a:r>
              <a:rPr lang="en-US" dirty="0"/>
              <a:t>Weekly Trend Analysis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23EB32-3A5C-52E0-EC39-3AB8D4DD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buClr>
                <a:schemeClr val="bg1"/>
              </a:buClr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Revenue and bookings follow a highly cyclic pattern, spiking to ~11,000 bookings and dropping to ~9,000 bookings in alternating bi-weekly cycles.</a:t>
            </a:r>
          </a:p>
          <a:p>
            <a:pPr>
              <a:lnSpc>
                <a:spcPct val="110000"/>
              </a:lnSpc>
              <a:buClr>
                <a:schemeClr val="bg1"/>
              </a:buClr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Demand is highly predictable. Staffing, housekeeping, and dynamic pricing models should be strictly aligned with these known bi-weekly peaks and valleys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optimise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operational costs.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1087F-C18F-22CE-DC34-A1F24E75E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893480" y="1293275"/>
            <a:ext cx="6086835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4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F9B09-F552-35CB-ADA5-B6681B0874BF}"/>
              </a:ext>
            </a:extLst>
          </p:cNvPr>
          <p:cNvSpPr txBox="1"/>
          <p:nvPr/>
        </p:nvSpPr>
        <p:spPr>
          <a:xfrm>
            <a:off x="73892" y="257175"/>
            <a:ext cx="11899034" cy="64633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</a:rPr>
              <a:t>Excel Dashboard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B395F-A1F7-8C66-B126-0C3AC668A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6561"/>
            <a:ext cx="12192000" cy="59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4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">
            <a:extLst>
              <a:ext uri="{FF2B5EF4-FFF2-40B4-BE49-F238E27FC236}">
                <a16:creationId xmlns:a16="http://schemas.microsoft.com/office/drawing/2014/main" id="{9441BAE2-07EA-A5B5-D133-E27878F4D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3191"/>
            <a:ext cx="5707875" cy="4724809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28706C4-D20F-BE86-9CE1-F10163E6F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875" y="1820743"/>
            <a:ext cx="6484125" cy="50372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3140F0-0055-5B7C-7874-4E0F0D3D54FE}"/>
              </a:ext>
            </a:extLst>
          </p:cNvPr>
          <p:cNvSpPr txBox="1"/>
          <p:nvPr/>
        </p:nvSpPr>
        <p:spPr>
          <a:xfrm>
            <a:off x="95249" y="180974"/>
            <a:ext cx="11953875" cy="646331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2424274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6D7B8C95-5CC4-A8A2-7A4C-BB6AD961A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8644379" cy="39773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4B2481-BB21-2302-F0BD-72BEE2C5F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7390"/>
            <a:ext cx="5859231" cy="288061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623C23-6E7C-CA9F-D0FC-312BDDACE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231" y="2422776"/>
            <a:ext cx="6332769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95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3EDED1E-8A0B-FB1B-617A-0E8651E84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98049"/>
            <a:ext cx="4930567" cy="265995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0AB5ED-1506-C4B4-8DB7-931605CAC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532" y="0"/>
            <a:ext cx="7200468" cy="324640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A2327-F5B8-DA8A-BA24-606526192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532" y="3268669"/>
            <a:ext cx="7200467" cy="3589331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B30C7F-214E-D91E-904D-DE215DBB48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6" y="0"/>
            <a:ext cx="5052498" cy="41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25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4955811B-5967-47D9-B6BB-CAF5266A2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4873"/>
            <a:ext cx="6216073" cy="516312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758D77-EF83-84A7-8944-780EC3769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39" y="1614986"/>
            <a:ext cx="6762161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82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F88DD4DD-8CB1-7219-C17F-F39A8E597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150"/>
            <a:ext cx="12192000" cy="60388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0386DF-90BD-82B7-80FC-13B7D5C122C5}"/>
              </a:ext>
            </a:extLst>
          </p:cNvPr>
          <p:cNvSpPr txBox="1"/>
          <p:nvPr/>
        </p:nvSpPr>
        <p:spPr>
          <a:xfrm>
            <a:off x="123825" y="87093"/>
            <a:ext cx="11944350" cy="64633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1979497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914A5A-419B-3D53-247E-2B559CDB1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36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3C802ADA-5D9A-A850-DE88-27C758D0D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106"/>
            <a:ext cx="12192000" cy="5905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AE3C03-56D2-83C1-20C4-997E8AA75FD5}"/>
              </a:ext>
            </a:extLst>
          </p:cNvPr>
          <p:cNvSpPr txBox="1"/>
          <p:nvPr/>
        </p:nvSpPr>
        <p:spPr>
          <a:xfrm>
            <a:off x="122548" y="188536"/>
            <a:ext cx="11830640" cy="64633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PowerBI Dashboard</a:t>
            </a:r>
          </a:p>
        </p:txBody>
      </p:sp>
    </p:spTree>
    <p:extLst>
      <p:ext uri="{BB962C8B-B14F-4D97-AF65-F5344CB8AC3E}">
        <p14:creationId xmlns:p14="http://schemas.microsoft.com/office/powerpoint/2010/main" val="3329381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" y="288417"/>
            <a:ext cx="11980164" cy="1188720"/>
          </a:xfr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23EB32-3A5C-52E0-EC39-3AB8D4DD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" y="1657350"/>
            <a:ext cx="11980164" cy="5114925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Handling Large-Scale Data &amp; Performance: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Managing and profiling a raw dataset of over 134,000 rows caused initial processing constraints in Excel, requiring efficient data ingestion and handling strategies to prevent lag.</a:t>
            </a:r>
          </a:p>
          <a:p>
            <a:pPr>
              <a:buClr>
                <a:schemeClr val="bg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Complex Data Modeling &amp; Relationships: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Designing a robust Star Schema in Power BI and structuring precise JOIN operations in SQL to unify fragmented dimensional data (Hotels, Rooms, Dates) without duplicating revenue records.</a:t>
            </a:r>
          </a:p>
          <a:p>
            <a:pPr>
              <a:buClr>
                <a:schemeClr val="bg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Advanced Metric Derivation: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Formulating conditional SQL logic alongside dynamic DAX measures and Tableau Level of Detail (LOD) expressions to accurately calculate complex KPIs—such as differentiating between revenue_generated and revenue_realized based on cancellation statuses.</a:t>
            </a:r>
          </a:p>
          <a:p>
            <a:pPr>
              <a:buClr>
                <a:schemeClr val="bg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Cross-Platform Data Consistency: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Maintaining absolute metric accuracy across the entire data pipeline. It was critical to ensure that top-line figures (like the ₹1.71B total revenue and 57.87% occupancy rate) matched perfectly from the initial Excel cleaning phase, through SQL transformations, and onto the final Power BI and Tableau dashboards.</a:t>
            </a:r>
          </a:p>
          <a:p>
            <a:pPr>
              <a:buClr>
                <a:schemeClr val="bg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Dynamic Visual Optimization: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Rendering highly granular, interactive visualizations (like Weekday vs. Weekend splits and bi-weekly trend cycles) in Power BI and Tableau without compromising dashboard loading speeds or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636073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3B46-DABB-8B7B-84D7-69DA04E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" y="288417"/>
            <a:ext cx="11980164" cy="1188720"/>
          </a:xfr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23EB32-3A5C-52E0-EC39-3AB8D4DD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" y="1657350"/>
            <a:ext cx="11980164" cy="5114925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Summary: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While the properties generate an impressive ₹1.71 Billion primarily through Elite rooms and the Mumbai market, operational inefficiencies are masking the true potential. The combination of 58% occupancy and a 25% cancellation rate means the business is leaving millions on the table.</a:t>
            </a:r>
          </a:p>
          <a:p>
            <a:pPr>
              <a:buClr>
                <a:schemeClr val="bg1"/>
              </a:buClr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Strategic Next Steps:</a:t>
            </a:r>
          </a:p>
          <a:p>
            <a:pPr lvl="1">
              <a:buClr>
                <a:schemeClr val="bg1"/>
              </a:buClr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Revamp Cancellation Policies: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Introduce non-refundable rates at a slight discount to secure guaranteed revenue.</a:t>
            </a:r>
          </a:p>
          <a:p>
            <a:pPr lvl="1">
              <a:buClr>
                <a:schemeClr val="bg1"/>
              </a:buClr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Boost Weekend Leisure: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Create family or "staycation" packages specifically targeted at weekend travelers to lift the weekend slump.</a:t>
            </a:r>
          </a:p>
          <a:p>
            <a:pPr lvl="1">
              <a:buClr>
                <a:schemeClr val="bg1"/>
              </a:buClr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Apply the Mumbai Playbook: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Investigate the operational and marketing strategies of Atliq Exotica (Mumbai) and implement those best practices in Delhi and Hyderabad.</a:t>
            </a:r>
          </a:p>
        </p:txBody>
      </p:sp>
    </p:spTree>
    <p:extLst>
      <p:ext uri="{BB962C8B-B14F-4D97-AF65-F5344CB8AC3E}">
        <p14:creationId xmlns:p14="http://schemas.microsoft.com/office/powerpoint/2010/main" val="845876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lights on&#10;&#10;AI-generated content may be incorrect.">
            <a:extLst>
              <a:ext uri="{FF2B5EF4-FFF2-40B4-BE49-F238E27FC236}">
                <a16:creationId xmlns:a16="http://schemas.microsoft.com/office/drawing/2014/main" id="{891AEB7B-C687-7939-D2B2-BB4B63D01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6" y="0"/>
            <a:ext cx="12191999" cy="685800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551B39-CB1E-8730-798D-71E168DC6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838299"/>
              </p:ext>
            </p:extLst>
          </p:nvPr>
        </p:nvGraphicFramePr>
        <p:xfrm>
          <a:off x="-9525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736364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901070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476377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605594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84663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6754191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17466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00490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77528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99447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59669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45E2AF9-F9BA-0CD0-E42C-C2E62651E752}"/>
              </a:ext>
            </a:extLst>
          </p:cNvPr>
          <p:cNvSpPr txBox="1"/>
          <p:nvPr/>
        </p:nvSpPr>
        <p:spPr>
          <a:xfrm>
            <a:off x="9525" y="2771775"/>
            <a:ext cx="8124825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3392601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820</TotalTime>
  <Words>917</Words>
  <Application>Microsoft Office PowerPoint</Application>
  <PresentationFormat>Widescreen</PresentationFormat>
  <Paragraphs>74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Gill Sans MT</vt:lpstr>
      <vt:lpstr>Wingdings</vt:lpstr>
      <vt:lpstr>Parcel</vt:lpstr>
      <vt:lpstr>PowerPoint Presentation</vt:lpstr>
      <vt:lpstr>INDEX</vt:lpstr>
      <vt:lpstr>Project Overview</vt:lpstr>
      <vt:lpstr>Total Revenue &amp; Total Booking</vt:lpstr>
      <vt:lpstr>Utilize Capacity</vt:lpstr>
      <vt:lpstr>Occupancy</vt:lpstr>
      <vt:lpstr>Checked Out, Cancel, No Show</vt:lpstr>
      <vt:lpstr>Weekday &amp; Weekend Revenue and Booking</vt:lpstr>
      <vt:lpstr>Revenue by State &amp; Hotel</vt:lpstr>
      <vt:lpstr>Class Wise Revenue</vt:lpstr>
      <vt:lpstr>Weekly Trend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 surasani</dc:creator>
  <cp:lastModifiedBy>HP</cp:lastModifiedBy>
  <cp:revision>8</cp:revision>
  <dcterms:created xsi:type="dcterms:W3CDTF">2026-04-02T05:13:11Z</dcterms:created>
  <dcterms:modified xsi:type="dcterms:W3CDTF">2026-04-26T05:40:17Z</dcterms:modified>
</cp:coreProperties>
</file>